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Sales</c:v>
                  </c:pt>
                  <c:pt idx="1">
                    <c:v>R&amp;D</c:v>
                  </c:pt>
                  <c:pt idx="2">
                    <c:v>HR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133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Employees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Sales</c:v>
                  </c:pt>
                  <c:pt idx="1">
                    <c:v>R&amp;D</c:v>
                  </c:pt>
                  <c:pt idx="2">
                    <c:v>HR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354</c:v>
                </c:pt>
                <c:pt idx="1">
                  <c:v>828</c:v>
                </c:pt>
                <c:pt idx="2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62B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by 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150</c:v>
                </c:pt>
                <c:pt idx="1">
                  <c:v>87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Single</c:v>
                  </c:pt>
                  <c:pt idx="1">
                    <c:v>Married</c:v>
                  </c:pt>
                  <c:pt idx="2">
                    <c:v>Divorced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84</c:v>
                </c:pt>
                <c:pt idx="2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62B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C"/>
        </a:solidFill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F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Under 25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45–54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112</c:v>
                </c:pt>
                <c:pt idx="1">
                  <c:v>519</c:v>
                </c:pt>
                <c:pt idx="2">
                  <c:v>505</c:v>
                </c:pt>
                <c:pt idx="3">
                  <c:v>262</c:v>
                </c:pt>
                <c:pt idx="4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62B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C"/>
        </a:solidFill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F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Sales Exec</c:v>
                  </c:pt>
                  <c:pt idx="1">
                    <c:v>Research Sci.</c:v>
                  </c:pt>
                  <c:pt idx="2">
                    <c:v>Lab Technician</c:v>
                  </c:pt>
                  <c:pt idx="3">
                    <c:v>Sales Rep</c:v>
                  </c:pt>
                  <c:pt idx="4">
                    <c:v>Mfg Director</c:v>
                  </c:pt>
                  <c:pt idx="5">
                    <c:v>Healthcare Rep</c:v>
                  </c:pt>
                  <c:pt idx="6">
                    <c:v>Manager</c:v>
                  </c:pt>
                  <c:pt idx="7">
                    <c:v>Research Dir.</c:v>
                  </c:pt>
                  <c:pt idx="8">
                    <c:v>HR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</c:v>
                </c:pt>
                <c:pt idx="1">
                  <c:v>47</c:v>
                </c:pt>
                <c:pt idx="2">
                  <c:v>62</c:v>
                </c:pt>
                <c:pt idx="3">
                  <c:v>33</c:v>
                </c:pt>
                <c:pt idx="4">
                  <c:v>10</c:v>
                </c:pt>
                <c:pt idx="5">
                  <c:v>9</c:v>
                </c:pt>
                <c:pt idx="6">
                  <c:v>5</c:v>
                </c:pt>
                <c:pt idx="7">
                  <c:v>2</c:v>
                </c:pt>
                <c:pt idx="8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62B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C"/>
        </a:solidFill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Employees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Job Satisfaction</c:v>
                  </c:pt>
                  <c:pt idx="1">
                    <c:v>Env Satisfaction</c:v>
                  </c:pt>
                  <c:pt idx="2">
                    <c:v>Work-Life Balance</c:v>
                  </c:pt>
                  <c:pt idx="3">
                    <c:v>Job Involvement</c:v>
                  </c:pt>
                  <c:pt idx="4">
                    <c:v>Relationship Sat.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2.78</c:v>
                </c:pt>
                <c:pt idx="1">
                  <c:v>2.77</c:v>
                </c:pt>
                <c:pt idx="2">
                  <c:v>2.77</c:v>
                </c:pt>
                <c:pt idx="3">
                  <c:v>2.73</c:v>
                </c:pt>
                <c:pt idx="4">
                  <c:v>2.71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Attrited Employees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Job Satisfaction</c:v>
                  </c:pt>
                  <c:pt idx="1">
                    <c:v>Env Satisfaction</c:v>
                  </c:pt>
                  <c:pt idx="2">
                    <c:v>Work-Life Balance</c:v>
                  </c:pt>
                  <c:pt idx="3">
                    <c:v>Job Involvement</c:v>
                  </c:pt>
                  <c:pt idx="4">
                    <c:v>Relationship Sat.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2.47</c:v>
                </c:pt>
                <c:pt idx="1">
                  <c:v>2.51</c:v>
                </c:pt>
                <c:pt idx="2">
                  <c:v>2.66</c:v>
                </c:pt>
                <c:pt idx="3">
                  <c:v>2.52</c:v>
                </c:pt>
                <c:pt idx="4">
                  <c:v>2.68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162B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Overtime</c:v>
                  </c:pt>
                  <c:pt idx="1">
                    <c:v>Works Overtime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</c:v>
                </c:pt>
                <c:pt idx="1">
                  <c:v>127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00C2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Overtime</c:v>
                  </c:pt>
                  <c:pt idx="1">
                    <c:v>Works Overtime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944</c:v>
                </c:pt>
                <c:pt idx="1">
                  <c:v>289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62B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C"/>
        </a:solidFill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by Travel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bubble3D val="0"/>
            <c:spPr>
              <a:solidFill>
                <a:srgbClr val="F43F5E"/>
              </a:solidFill>
              <a:effectLst/>
            </c:spPr>
          </c:dPt>
          <c:dPt>
            <c:idx val="2"/>
            <c:bubble3D val="0"/>
            <c:spPr>
              <a:solidFill>
                <a:srgbClr val="00C2C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Rarely</c:v>
                </c:pt>
                <c:pt idx="1">
                  <c:v>Frequently</c:v>
                </c:pt>
                <c:pt idx="2">
                  <c:v>No Travel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156</c:v>
                </c:pt>
                <c:pt idx="1">
                  <c:v>69</c:v>
                </c:pt>
                <c:pt idx="2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Income ($)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2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3F5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HR</c:v>
                  </c:pt>
                  <c:pt idx="1">
                    <c:v>R&amp;D</c:v>
                  </c:pt>
                  <c:pt idx="2">
                    <c:v>Sales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6655</c:v>
                </c:pt>
                <c:pt idx="1">
                  <c:v>6281</c:v>
                </c:pt>
                <c:pt idx="2">
                  <c:v>6959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000"/>
        </c:scaling>
        <c:delete val="0"/>
        <c:axPos val="l"/>
        <c:majorGridlines>
          <c:spPr>
            <a:ln w="6350" cap="flat">
              <a:solidFill>
                <a:srgbClr val="162B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C"/>
        </a:solidFill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59E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0–2 yrs</c:v>
                  </c:pt>
                  <c:pt idx="1">
                    <c:v>3–5 yrs</c:v>
                  </c:pt>
                  <c:pt idx="2">
                    <c:v>6–9 yrs</c:v>
                  </c:pt>
                  <c:pt idx="3">
                    <c:v>10–15 yrs</c:v>
                  </c:pt>
                  <c:pt idx="4">
                    <c:v>16+ yrs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62</c:v>
                </c:pt>
                <c:pt idx="2">
                  <c:v>34</c:v>
                </c:pt>
                <c:pt idx="3">
                  <c:v>31</c:v>
                </c:pt>
                <c:pt idx="4">
                  <c:v>22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59E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62B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F3C"/>
        </a:solidFill>
        <a:ln>
          <a:noFill/>
        </a:ln>
        <a:effectLst/>
      </c:spPr>
    </c:plotArea>
    <c:plotVisOnly val="1"/>
    <c:dispBlanksAs val="span"/>
  </c:chart>
  <c:spPr>
    <a:solidFill>
      <a:srgbClr val="0D1F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097280"/>
            <a:ext cx="5943600" cy="5943600"/>
          </a:xfrm>
          <a:prstGeom prst="ellipse">
            <a:avLst/>
          </a:prstGeom>
          <a:solidFill>
            <a:srgbClr val="162B50">
              <a:alpha val="6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F2040">
              <a:alpha val="70000"/>
            </a:srgbClr>
          </a:solidFill>
          <a:ln w="6350">
            <a:solidFill>
              <a:srgbClr val="008F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0C2CB">
              <a:alpha val="8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PEOPLE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HR ANALYTICS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Workforce Intelligence · Attrition Analysis · People Insights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663440"/>
            <a:ext cx="5486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IBM HR Dataset  ·  1,470 Employees  ·  Tableau Analysis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4663440"/>
            <a:ext cx="1097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200400"/>
            <a:ext cx="9601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2186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1,470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3547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Employees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022592" y="3200400"/>
            <a:ext cx="9601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32186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16.1%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22592" y="3547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Attrition Rate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101584" y="3200400"/>
            <a:ext cx="96012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32186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237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01584" y="35478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Left Company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EXECUTIVE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Key Workforce Metrics at a Glance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01168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2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1,470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Employees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Full headcount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987552"/>
            <a:ext cx="292608" cy="29260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50592" y="914400"/>
            <a:ext cx="201168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91440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50592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1,233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2450592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Active Employees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50592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Currently employed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987552"/>
            <a:ext cx="292608" cy="29260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626864" y="914400"/>
            <a:ext cx="201168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914400"/>
            <a:ext cx="201168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26864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237</a:t>
            </a:r>
            <a:endParaRPr lang="en-US" sz="3400" dirty="0"/>
          </a:p>
        </p:txBody>
      </p:sp>
      <p:sp>
        <p:nvSpPr>
          <p:cNvPr id="21" name="Text 17"/>
          <p:cNvSpPr/>
          <p:nvPr/>
        </p:nvSpPr>
        <p:spPr>
          <a:xfrm>
            <a:off x="4626864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Attrition Count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626864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Employees who left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987552"/>
            <a:ext cx="292608" cy="29260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803136" y="914400"/>
            <a:ext cx="201168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03136" y="91440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803136" y="11430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16.1%</a:t>
            </a:r>
            <a:endParaRPr lang="en-US" sz="3400" dirty="0"/>
          </a:p>
        </p:txBody>
      </p:sp>
      <p:sp>
        <p:nvSpPr>
          <p:cNvPr id="27" name="Text 22"/>
          <p:cNvSpPr/>
          <p:nvPr/>
        </p:nvSpPr>
        <p:spPr>
          <a:xfrm>
            <a:off x="6803136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Attrition Rate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803136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Industry avg: 13%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987552"/>
            <a:ext cx="292608" cy="29260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274320" y="3154680"/>
            <a:ext cx="1600200" cy="91440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7432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36.9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27432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yrs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274320" y="36210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Age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2011680" y="3154680"/>
            <a:ext cx="1600200" cy="91440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01168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$6,503</a:t>
            </a:r>
            <a:endParaRPr lang="en-US" sz="2000" dirty="0"/>
          </a:p>
        </p:txBody>
      </p:sp>
      <p:sp>
        <p:nvSpPr>
          <p:cNvPr id="36" name="Text 30"/>
          <p:cNvSpPr/>
          <p:nvPr/>
        </p:nvSpPr>
        <p:spPr>
          <a:xfrm>
            <a:off x="201168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2011680" y="36210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Monthly Income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3749040" y="3154680"/>
            <a:ext cx="1600200" cy="91440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74904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7.0</a:t>
            </a:r>
            <a:endParaRPr lang="en-US" sz="2000" dirty="0"/>
          </a:p>
        </p:txBody>
      </p:sp>
      <p:sp>
        <p:nvSpPr>
          <p:cNvPr id="40" name="Text 34"/>
          <p:cNvSpPr/>
          <p:nvPr/>
        </p:nvSpPr>
        <p:spPr>
          <a:xfrm>
            <a:off x="374904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yrs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3749040" y="36210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Years at Company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5486400" y="3154680"/>
            <a:ext cx="1600200" cy="91440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48640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2.73</a:t>
            </a:r>
            <a:endParaRPr lang="en-US" sz="2000" dirty="0"/>
          </a:p>
        </p:txBody>
      </p:sp>
      <p:sp>
        <p:nvSpPr>
          <p:cNvPr id="44" name="Text 38"/>
          <p:cNvSpPr/>
          <p:nvPr/>
        </p:nvSpPr>
        <p:spPr>
          <a:xfrm>
            <a:off x="548640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/ 4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486400" y="36210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Avg Job Satisfaction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7223760" y="3154680"/>
            <a:ext cx="1600200" cy="91440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22376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2.76</a:t>
            </a:r>
            <a:endParaRPr lang="en-US" sz="2000" dirty="0"/>
          </a:p>
        </p:txBody>
      </p:sp>
      <p:sp>
        <p:nvSpPr>
          <p:cNvPr id="48" name="Text 42"/>
          <p:cNvSpPr/>
          <p:nvPr/>
        </p:nvSpPr>
        <p:spPr>
          <a:xfrm>
            <a:off x="7223760" y="3218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/ 4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7223760" y="36210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Work-Life Balance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3A5F"/>
                </a:solidFill>
              </a:rPr>
              <a:t>Source: IBM HR Analytics Dataset · 39 Variables · 1,470 Records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ATTRITION BY DEPARTMENT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14400"/>
            <a:ext cx="292608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914400"/>
            <a:ext cx="64008" cy="10972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960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261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Attrition Rate: 20.6%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15361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92 left of 446 total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80760" y="1810512"/>
            <a:ext cx="2606040" cy="91440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80760" y="1810512"/>
            <a:ext cx="537569" cy="91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0" y="2148840"/>
            <a:ext cx="292608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14884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194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Research &amp; Dev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2496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Attrition Rate: 13.8%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770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133 left of 961 total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0760" y="3044952"/>
            <a:ext cx="2606040" cy="91440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0760" y="3044952"/>
            <a:ext cx="360669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0" y="3383280"/>
            <a:ext cx="292608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0" y="3383280"/>
            <a:ext cx="64008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Human Resources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080760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Attrition Rate: 19.0%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080760" y="4005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left of 63 total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80760" y="4279392"/>
            <a:ext cx="2606040" cy="91440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80760" y="4279392"/>
            <a:ext cx="496389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0" y="4617720"/>
            <a:ext cx="2926080" cy="411480"/>
          </a:xfrm>
          <a:prstGeom prst="rect">
            <a:avLst/>
          </a:prstGeom>
          <a:solidFill>
            <a:srgbClr val="162B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4617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</a:rPr>
              <a:t>⚡ Sales has the highest attrition rate at 20.6%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ATTRITION BY GENDER &amp; MARITAL STATUS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Gender Split in Attrition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82880" y="11887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Attrition by Marital Status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72000" y="1188720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617720"/>
            <a:ext cx="2743200" cy="41148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617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63%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4300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Male attrition share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00400" y="4617720"/>
            <a:ext cx="2743200" cy="41148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0" y="4617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37%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06908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Female attrition share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26480" y="4617720"/>
            <a:ext cx="2743200" cy="41148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26480" y="4617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51%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99516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Singles leaving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WORKFORCE AGE PROFILE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Employee Count by Age Band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82880" y="11887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Attrition Rate by Age Band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188720"/>
            <a:ext cx="329184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Under 25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32320" y="1353312"/>
            <a:ext cx="1645920" cy="219456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0" y="1353312"/>
            <a:ext cx="602407" cy="2194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36.6%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1847088"/>
            <a:ext cx="329184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18470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25 – 34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32320" y="2011680"/>
            <a:ext cx="1645920" cy="219456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0" y="2011680"/>
            <a:ext cx="332476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392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20.2%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2505456"/>
            <a:ext cx="329184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5054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35 – 44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132320" y="2670048"/>
            <a:ext cx="1645920" cy="219456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32320" y="2670048"/>
            <a:ext cx="179405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0392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10.9%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69280" y="3163824"/>
            <a:ext cx="329184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1638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45 – 54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32320" y="3328416"/>
            <a:ext cx="1645920" cy="219456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32320" y="3328416"/>
            <a:ext cx="156362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9.5%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69280" y="3822192"/>
            <a:ext cx="329184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0" y="38221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55+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132320" y="3986784"/>
            <a:ext cx="1645920" cy="219456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132320" y="3986784"/>
            <a:ext cx="251826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03920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15.3%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69280" y="4572000"/>
            <a:ext cx="3291840" cy="475488"/>
          </a:xfrm>
          <a:prstGeom prst="rect">
            <a:avLst/>
          </a:prstGeom>
          <a:solidFill>
            <a:srgbClr val="162B5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60720" y="45720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⚠  Under-25 attrition (36.6%) is 2× the average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ATTRITION BY JOB ROLE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822960"/>
          <a:ext cx="8778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4736592"/>
            <a:ext cx="8778240" cy="320040"/>
          </a:xfrm>
          <a:prstGeom prst="rect">
            <a:avLst/>
          </a:prstGeom>
          <a:solidFill>
            <a:srgbClr val="162B50"/>
          </a:solidFill>
          <a:ln w="12700">
            <a:solidFill>
              <a:srgbClr val="162B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Technicians (62) and Sales Executives (57) account for nearly 50% of total attrition  ·  Targeted retention programs needed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SATISFACTION &amp; ENGAGEMENT SCORES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82296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841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Score Scale: 1 (Low) → 4 (High)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852160" y="1188720"/>
            <a:ext cx="310896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Job Satisfaction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4944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CB"/>
                </a:solidFill>
              </a:rPr>
              <a:t>2.73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63840" y="11887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2CB"/>
                </a:solidFill>
              </a:rPr>
              <a:t>★★★☆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1847088"/>
            <a:ext cx="310896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8470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Environment Sat.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49440" y="18470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2.72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863840" y="18470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★★★☆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2505456"/>
            <a:ext cx="310896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2505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Work-Life Balance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49440" y="2505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2.76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863840" y="250545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★★★☆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52160" y="3163824"/>
            <a:ext cx="310896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31638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Job Involvement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949440" y="31638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2.72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863840" y="316382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★★★☆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52160" y="3822192"/>
            <a:ext cx="310896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3822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Relationship Sat.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949440" y="38221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2.71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863840" y="38221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★★★☆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52160" y="4572000"/>
            <a:ext cx="3108960" cy="475488"/>
          </a:xfrm>
          <a:prstGeom prst="rect">
            <a:avLst/>
          </a:prstGeom>
          <a:solidFill>
            <a:srgbClr val="162B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0" y="45720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Attrited employees score 10-12% lower on satisfaction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OVERTIME &amp; TRAVEL IMPACT ON ATTRITION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Overtime vs No Overtime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82880" y="118872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Travel Frequency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72000" y="118872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4617720"/>
            <a:ext cx="2743200" cy="41148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4617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30.5%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34440" y="4617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Overtime attrition rate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00400" y="4617720"/>
            <a:ext cx="2743200" cy="41148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0" y="4617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10.4%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160520" y="4617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Non-overtime attrition rate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26480" y="4617720"/>
            <a:ext cx="2743200" cy="411480"/>
          </a:xfrm>
          <a:prstGeom prst="rect">
            <a:avLst/>
          </a:prstGeom>
          <a:solidFill>
            <a:srgbClr val="162B5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26480" y="4617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2.9×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086600" y="4617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More likely to leave if OT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2CB"/>
                </a:solidFill>
              </a:rPr>
              <a:t>INCOME &amp; TENURE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Avg Monthly Income by Department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82880" y="118872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Attrition by Years at Company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182880" y="3913632"/>
          <a:ext cx="50292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0" y="822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Attrition vs Retention: Income Gap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394960" y="1234440"/>
            <a:ext cx="3566160" cy="512064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0" y="12344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Avg Income (Active)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589520" y="123444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$6,833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394960" y="1837944"/>
            <a:ext cx="3566160" cy="512064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0" y="18379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Avg Income (Attrited)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589520" y="183794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$4,787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394960" y="2441448"/>
            <a:ext cx="3566160" cy="512064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0" y="24414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Income Gap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589520" y="244144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$2,046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394960" y="3044952"/>
            <a:ext cx="3566160" cy="512064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0" y="304495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Avg Years (Active)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589520" y="304495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7.4 yrs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394960" y="3648456"/>
            <a:ext cx="3566160" cy="512064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0" y="36484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Avg Years (Attrited)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589520" y="364845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5.1 yrs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394960" y="4297680"/>
            <a:ext cx="3566160" cy="731520"/>
          </a:xfrm>
          <a:prstGeom prst="rect">
            <a:avLst/>
          </a:prstGeom>
          <a:solidFill>
            <a:srgbClr val="162B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486400" y="4297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💡 Employees earning below $5K/mo are significantly more at risk of leaving. Income is a top predictor of attrition.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Key actions to reduce attrition and improve workforce stability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20624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64008" cy="1554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35608"/>
            <a:ext cx="365760" cy="365760"/>
          </a:xfrm>
          <a:prstGeom prst="rect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Overtime Policy Reform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8562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Employees on overtime leave at 3× the rate. Implement mandatory rest periods, comp-time programs, or overtime pay reviews to reduce burnout-driven exits.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20624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172968"/>
            <a:ext cx="36576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Early Career Retention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5935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Under-25 attrition at 36.6% signals weak onboarding. Launch mentorship programs, fast-track development paths, and clear career ladders for junior staff.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325880"/>
            <a:ext cx="420624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325880"/>
            <a:ext cx="64008" cy="1554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435608"/>
            <a:ext cx="365760" cy="36576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 Department Focus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85623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Sales attrition at 20.6% — highest among all departments. Review compensation benchmarks, quota realism, and manager effectiveness in sales teams.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063240"/>
            <a:ext cx="420624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63240"/>
            <a:ext cx="64008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172968"/>
            <a:ext cx="365760" cy="36576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31729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Compensation Parity Review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5935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$2,046 income gap between active and attrited employees. Conduct market benchmarking and address below-market pay, especially for Lab Technicians and Sales Execs.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C2CB">
              <a:alpha val="15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CB"/>
                </a:solidFill>
              </a:rPr>
              <a:t>Data-driven HR decisions start here  ·  IBM HR Analytics Dataset  ·  Analysis prepared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</dc:title>
  <dc:subject>PptxGenJS Presentation</dc:subject>
  <dc:creator>HR Analytics Team</dc:creator>
  <cp:lastModifiedBy>HR Analytics Team</cp:lastModifiedBy>
  <cp:revision>1</cp:revision>
  <dcterms:created xsi:type="dcterms:W3CDTF">2026-04-24T05:06:40Z</dcterms:created>
  <dcterms:modified xsi:type="dcterms:W3CDTF">2026-04-24T05:06:40Z</dcterms:modified>
</cp:coreProperties>
</file>